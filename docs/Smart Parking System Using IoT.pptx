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JetBrains Mono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4722b39f-2bd2-409b-9061-cb24cd2b0cf8.fntdata" /><ns0:Relationship Id="rIdFont21" Type="http://schemas.openxmlformats.org/officeDocument/2006/relationships/font" Target="fonts/b04694d2-21af-4dd6-bc61-33a38fd873f1.fntdata" /><ns0:Relationship Id="rIdFont22" Type="http://schemas.openxmlformats.org/officeDocument/2006/relationships/font" Target="fonts/3db2dd42-dc9d-4f5b-bb86-468c60dac1c1.fntdata" /><ns0:Relationship Id="rIdFont23" Type="http://schemas.openxmlformats.org/officeDocument/2006/relationships/font" Target="fonts/750a2df8-2566-4e7e-b7b7-1df0b4e8834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829151"/>
            <a:ext cx="10668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829151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81563"/>
            <a:ext cx="1905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550" y="6081563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725" y="6081563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29700" y="628650"/>
            <a:ext cx="3000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BATCH 2024–2028 · PROJECT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22227"/>
            <a:ext cx="11251406" cy="6076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F8FAFC"/>
                </a:solidFill>
                <a:latin typeface="Plus Jakarta Sans"/>
              </a:rPr>
              <a:t>Smart Parking System Using 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20392"/>
            <a:ext cx="7334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Automated vehicle detection, edge sensor processing, and live cloud slot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072038"/>
            <a:ext cx="1200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JetBrains Mono"/>
              </a:rPr>
              <a:t>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628650"/>
            <a:ext cx="5238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JetBrains Mono"/>
              </a:rPr>
              <a:t>DEPARTMENT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2441227"/>
            <a:ext cx="4250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IOT-BASED REAL-TIME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6067276"/>
            <a:ext cx="1905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ESP32 Wi-Fi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2300" y="6067276"/>
            <a:ext cx="1964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Ultrasonic &amp; IR Sensing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6375" y="6067276"/>
            <a:ext cx="1893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Live Cloud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960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67000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667000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667000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667000"/>
            <a:ext cx="2600325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67000"/>
            <a:ext cx="38100" cy="17335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00425" y="2667000"/>
            <a:ext cx="38100" cy="1733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0" y="2667000"/>
            <a:ext cx="38100" cy="173355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82075" y="2667000"/>
            <a:ext cx="38100" cy="17335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95600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5" y="2895600"/>
            <a:ext cx="2476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2895600"/>
            <a:ext cx="31432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895600"/>
            <a:ext cx="31432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6096000"/>
            <a:ext cx="142875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43850" y="876300"/>
            <a:ext cx="4248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Manual hunting wastes urban space, time, and fuel.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067425"/>
            <a:ext cx="9191625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Core Impact: Over 30% of downtown traffic congestion is caused by drivers hunting for parking spots.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072187"/>
            <a:ext cx="161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CRITICAL FRICTION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6834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CURRENT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66750"/>
            <a:ext cx="7175896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Conventional Parking Dilemma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257550"/>
            <a:ext cx="276284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Manual Search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571875"/>
            <a:ext cx="22002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Drivers spend extensive time searching without vacancy guidance.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7125" y="3257550"/>
            <a:ext cx="276284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Fuel &amp; Emissions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7125" y="3571875"/>
            <a:ext cx="22002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Continuous roving inside lots increases fuel burn and exhaust fumes.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7950" y="3257550"/>
            <a:ext cx="276284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Remote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950" y="3571875"/>
            <a:ext cx="22002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No centralized dashboard informs drivers before entering the lot.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3257550"/>
            <a:ext cx="276284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Human Dependency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8775" y="3571875"/>
            <a:ext cx="22002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Heavy reliance on parking attendants during peak congestion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043112"/>
            <a:ext cx="5334000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431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09825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219450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29075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83870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5241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33375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7" y="4143375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612" y="4953000"/>
            <a:ext cx="2190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876300"/>
            <a:ext cx="533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Automated sensing, microcontroller logic, and real-time displays.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719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PROJECT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66750"/>
            <a:ext cx="7550943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Proposed IoT Smart Parking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2409825"/>
            <a:ext cx="6250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Per-Slot Automated Sensing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2667000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Infrared and ultrasonic sensors detect exact spot occupancy continuously.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3219450"/>
            <a:ext cx="6250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ESP32 Edge Microcontroller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3476625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Processes digital input pins and determines real-time slot vacancy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4029075"/>
            <a:ext cx="6250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Wi-Fi Cloud Telemetry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4286250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Syncs occupancy logs instantly to web dashboards and mobile frontends.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4838700"/>
            <a:ext cx="57007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Dual Local &amp; Remote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1100" y="5095875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On-site LCD/LED indicators guide drivers directly at entry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1097280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50306"/>
            <a:ext cx="1097280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95687"/>
            <a:ext cx="1097280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741068"/>
            <a:ext cx="1097280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886450"/>
            <a:ext cx="10972800" cy="514350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1447800"/>
            <a:ext cx="61912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2593181"/>
            <a:ext cx="61912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3738562"/>
            <a:ext cx="61912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7725" y="4883943"/>
            <a:ext cx="61912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725" y="6029325"/>
            <a:ext cx="619125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SYSTEM 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5-Tier Architectural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4725" y="1471612"/>
            <a:ext cx="7786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IR Obstacle Sensors + HC-SR04 Ultrasonic modules mounted per slot (S1–S4).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44075" y="1481137"/>
            <a:ext cx="2000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Raw Proximity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725" y="2616993"/>
            <a:ext cx="7881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ESP32 Dual-Core SoC: GPIO edge polling, debounce validation, and state classification.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0275" y="2626518"/>
            <a:ext cx="190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Available / Occupied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4725" y="3762375"/>
            <a:ext cx="7881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Onboard 802.11 b/g/n Wi-Fi sending lightweight MQTT packets and HTTP REST queries.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0275" y="3771900"/>
            <a:ext cx="190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Wireless IP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725" y="4907756"/>
            <a:ext cx="8167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ThingSpeak / Firebase Realtime DB / Blynk Cloud storage for live JSON slot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8875" y="4917281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Realtime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4725" y="6053137"/>
            <a:ext cx="8358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Physical 16x2 I2C LCD + Red/Green LEDs for on-site drivers, Web UI for mobile drivers.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1275" y="6062662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Visual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1485900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TIER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9250" y="1457325"/>
            <a:ext cx="143017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Sensing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2631281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TIER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9250" y="2602706"/>
            <a:ext cx="173771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Processing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3776662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TIER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9250" y="3748087"/>
            <a:ext cx="22502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Communication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4922043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TIER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9250" y="4893468"/>
            <a:ext cx="19002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Cloud / Data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925" y="6067425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JetBrains Mono"/>
              </a:rPr>
              <a:t>TIER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9250" y="6038850"/>
            <a:ext cx="203775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User Interface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7091"/>
            <a:ext cx="2600325" cy="1569541"/>
          </a:xfrm>
          <a:prstGeom prst="roundRect">
            <a:avLst>
              <a:gd name="adj" fmla="val 7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687091"/>
            <a:ext cx="2600325" cy="1569541"/>
          </a:xfrm>
          <a:prstGeom prst="roundRect">
            <a:avLst>
              <a:gd name="adj" fmla="val 7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687091"/>
            <a:ext cx="2600325" cy="1569541"/>
          </a:xfrm>
          <a:prstGeom prst="roundRect">
            <a:avLst>
              <a:gd name="adj" fmla="val 7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687091"/>
            <a:ext cx="2600325" cy="1569541"/>
          </a:xfrm>
          <a:prstGeom prst="roundRect">
            <a:avLst>
              <a:gd name="adj" fmla="val 7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791200"/>
            <a:ext cx="5410200" cy="60960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5791200"/>
            <a:ext cx="5410200" cy="6096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2920454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5" y="2920454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0450" y="2920454"/>
            <a:ext cx="1428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05675" y="876300"/>
            <a:ext cx="48863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Engineered for low-power consumption and high reliability.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690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HARDWARE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7250906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Component Specifications &amp;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3239541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JetBrains Mono"/>
              </a:rPr>
              <a:t>CORE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3477666"/>
            <a:ext cx="22574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Dual-core Xtensa 32-bit MCU with integrated 2.4 GHz Wi-Fi and Bluetooth 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239541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JetBrains Mono"/>
              </a:rPr>
              <a:t>DETECTION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3477666"/>
            <a:ext cx="22574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Infrared reflection and 40kHz sound waves detect car chassis presence accurately.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3239541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JetBrains Mono"/>
              </a:rPr>
              <a:t>GATEWAY 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477666"/>
            <a:ext cx="22574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I2C wired screen displaying total free capacity and slot status at the lot entrance.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1150" y="3239541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C2626"/>
                </a:solidFill>
                <a:latin typeface="JetBrains Mono"/>
              </a:rPr>
              <a:t>INDICATORS &amp;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3477666"/>
            <a:ext cx="22574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Green (Free) &amp; Red (Occupied) per bay, plus audio buzzer for invalid parking alerts.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6010275"/>
            <a:ext cx="4083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Operating Voltage: 5V DC (USB/External Regulator)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5300" y="6015037"/>
            <a:ext cx="190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JetBrains Mono"/>
              </a:rPr>
              <a:t>Current Draw: ~180mA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5924550"/>
            <a:ext cx="386953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Pin Mapping: GPIO 12-15 (Sensors), GPIO 21/22 (I2C SDA/SCL)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6981" y="5934075"/>
            <a:ext cx="135016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6A34A"/>
                </a:solidFill>
                <a:latin typeface="JetBrains Mono"/>
              </a:rPr>
              <a:t>Zero Pin Conflict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2906166"/>
            <a:ext cx="18877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ESP32 NodeMCU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9500" y="2906166"/>
            <a:ext cx="158769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IR &amp; Ultrasonic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2906166"/>
            <a:ext cx="182522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16x2 LCD / OLED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1150" y="2906166"/>
            <a:ext cx="15251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LEDs &amp; Buzzer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5353050" cy="5095875"/>
          </a:xfrm>
          <a:prstGeom prst="roundRect">
            <a:avLst>
              <a:gd name="adj" fmla="val 26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304925"/>
            <a:ext cx="5353050" cy="5095875"/>
          </a:xfrm>
          <a:prstGeom prst="roundRect">
            <a:avLst>
              <a:gd name="adj" fmla="val 26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2833687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05575" y="2619375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67300" y="1600200"/>
            <a:ext cx="61912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20375" y="160020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SENSOR 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Vehicle Detection &amp; Signal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5953125"/>
            <a:ext cx="600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Ideal for: Cost-effective indoor covered parking bays.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5953125"/>
            <a:ext cx="5686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Ideal for: Outdoor spaces immune to ambient sunlight.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000250"/>
            <a:ext cx="4895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Infrared emitter diode transmits an 850nm beam. When a vehicle enters the bay, the reflective body reflects the beam back into the photodiode receiver.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2000250"/>
            <a:ext cx="48958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Transmits a 10µs pulse creating 40kHz ultrasound bursts. Time-of-flight (ToF) calculates the distance to the vehicle's bumper or 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1581150"/>
            <a:ext cx="261282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IR Obstacle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0" y="1638300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JetBrains Mono"/>
              </a:rPr>
              <a:t>OPTICAL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2976562"/>
            <a:ext cx="5643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Threshold: Active LOW output (0V)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138487"/>
            <a:ext cx="5643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Calibration: LM393 Potentiometer trimmer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1581150"/>
            <a:ext cx="272534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HC-SR04 Ultrasonic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6575" y="1638300"/>
            <a:ext cx="628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JetBrains Mono"/>
              </a:rPr>
              <a:t>ACOUSTIC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2762250"/>
            <a:ext cx="5543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Formula: Distance = (Time × 0.034 cm/µs) /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450" y="2924175"/>
            <a:ext cx="5543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Range: 2 cm to 400 cm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28875"/>
            <a:ext cx="5818882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76600"/>
            <a:ext cx="5818882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24325"/>
            <a:ext cx="5818882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972050"/>
            <a:ext cx="5818882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33282" y="4317206"/>
            <a:ext cx="4849117" cy="1443037"/>
          </a:xfrm>
          <a:prstGeom prst="roundRect">
            <a:avLst>
              <a:gd name="adj" fmla="val 66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28875"/>
            <a:ext cx="28575" cy="714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28575" cy="714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124325"/>
            <a:ext cx="28575" cy="7143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972050"/>
            <a:ext cx="28575" cy="71437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282" y="2355056"/>
            <a:ext cx="4849117" cy="1809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82" y="2355056"/>
            <a:ext cx="4849117" cy="1809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15608" y="1085850"/>
            <a:ext cx="466204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Real-time debounce, state comparison, and MQTT/HTTP publishing.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800751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EDGE COMPUTING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6826321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Microcontroller Logic &amp; Cloud Transmission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2581275"/>
            <a:ext cx="70997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Continuous Pin 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" y="2819400"/>
            <a:ext cx="676163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Reads digital input pins from sensors S1, S2, S3, S4 at 100ms intervals.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3429000"/>
            <a:ext cx="70997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Debounce &amp; Noise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3667125"/>
            <a:ext cx="676163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Validates sensor state stability across 3 consecutive cycles to reject false triggers.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4276725"/>
            <a:ext cx="70997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Local Actuation &amp; I2C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4514850"/>
            <a:ext cx="676163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Toggles GPIO LED status indicators and writes formatted slot count to LCD.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5124450"/>
            <a:ext cx="70997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4. Asynchronous Cloud Uplink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5362575"/>
            <a:ext cx="676163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Dispatches JSON payload via Wi-Fi to Firebase Realtime DB and ThingSpeak channel.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3782" y="4469606"/>
            <a:ext cx="526821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// Telemetry Payload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3782" y="4679156"/>
            <a:ext cx="4563367" cy="928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{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"lot_id": "SMVEC_P9",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"slots": {"S1": 1, "S2": 0, "S3": 1, "S4": 0},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  "total_free": 2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2687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2452687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452687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452687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48112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0900" y="3948112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948112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500" y="3948112"/>
            <a:ext cx="2628900" cy="1304925"/>
          </a:xfrm>
          <a:prstGeom prst="roundRect">
            <a:avLst>
              <a:gd name="adj" fmla="val 7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WORKFLOW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End-to-End Operational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643187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2643187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643187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43187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F4444"/>
                </a:solidFill>
                <a:latin typeface="Plus Jakarta San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138612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4138612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2700" y="4138612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138612"/>
            <a:ext cx="23431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Plus Jakarta San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2976562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Vehicle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214687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Vehicle drives into assigned slot bay S1–S4.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0925" y="2976562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Proximity 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0925" y="3214687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IR/Ultrasonic sensor changes logic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2976562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ESP32 Interrupt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3214687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Microcontroller reads state change immediately.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525" y="2976562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Slot Marked OCCUPIED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525" y="3214687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Local bay LED illuminates RED instantly.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44719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Wi-Fi Packet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471011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ESP32 transmits status over secure Wi-Fi.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0925" y="44719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Cloud DB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0925" y="471011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Cloud database updates live slot status table.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225" y="44719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Dashboard 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225" y="471011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Web &amp; entrance LCD update available count.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525" y="4471987"/>
            <a:ext cx="292536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Departure Reset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525" y="4710112"/>
            <a:ext cx="2324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Vehicle exits and slot resets to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4941" y="2443162"/>
            <a:ext cx="4907458" cy="2819400"/>
          </a:xfrm>
          <a:prstGeom prst="roundRect">
            <a:avLst>
              <a:gd name="adj" fmla="val 472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13066" y="4129087"/>
            <a:ext cx="4431208" cy="895350"/>
          </a:xfrm>
          <a:prstGeom prst="roundRect">
            <a:avLst>
              <a:gd name="adj" fmla="val 851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443162"/>
            <a:ext cx="2804070" cy="1333500"/>
          </a:xfrm>
          <a:prstGeom prst="roundRect">
            <a:avLst>
              <a:gd name="adj" fmla="val 8571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070" y="2443162"/>
            <a:ext cx="2804070" cy="133350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29062"/>
            <a:ext cx="2804070" cy="1333500"/>
          </a:xfrm>
          <a:prstGeom prst="roundRect">
            <a:avLst>
              <a:gd name="adj" fmla="val 8571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070" y="3929062"/>
            <a:ext cx="2804070" cy="1333500"/>
          </a:xfrm>
          <a:prstGeom prst="roundRect">
            <a:avLst>
              <a:gd name="adj" fmla="val 8571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13066" y="2681287"/>
            <a:ext cx="600075" cy="28575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8320" y="2681287"/>
            <a:ext cx="685800" cy="209550"/>
          </a:xfrm>
          <a:prstGeom prst="roundRect">
            <a:avLst>
              <a:gd name="adj" fmla="val 18181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08116" y="2681287"/>
            <a:ext cx="752475" cy="209550"/>
          </a:xfrm>
          <a:prstGeom prst="roundRect">
            <a:avLst>
              <a:gd name="adj" fmla="val 1818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8320" y="4167187"/>
            <a:ext cx="685800" cy="209550"/>
          </a:xfrm>
          <a:prstGeom prst="roundRect">
            <a:avLst>
              <a:gd name="adj" fmla="val 18181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08116" y="4167187"/>
            <a:ext cx="752475" cy="209550"/>
          </a:xfrm>
          <a:prstGeom prst="roundRect">
            <a:avLst>
              <a:gd name="adj" fmla="val 18181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381" y="645021"/>
            <a:ext cx="2055018" cy="431303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831" y="778371"/>
            <a:ext cx="1712118" cy="20270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300412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620" y="3300412"/>
            <a:ext cx="2381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4786312"/>
            <a:ext cx="333375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620" y="4786312"/>
            <a:ext cx="238125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690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PROTOTYPE SCHEMATIC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66750"/>
            <a:ext cx="7250906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4-Slot Parking Matrix &amp; Live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3066" y="3081337"/>
            <a:ext cx="4526458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Continuous polling of 4 GPIO input lines. Multiplexed transmission to local 16x2 LCD and Wi-Fi IoT Gateway.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6416" y="4262437"/>
            <a:ext cx="514558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LCD GATEWAY DISPLAY: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6416" y="4462462"/>
            <a:ext cx="514558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2C55E"/>
                </a:solidFill>
                <a:latin typeface="JetBrains Mono"/>
              </a:rPr>
              <a:t>TOTAL FREE: 02 /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6416" y="4719637"/>
            <a:ext cx="514558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JetBrains Mono"/>
              </a:rPr>
              <a:t>S1: [X] S2: [OK] S3: [X] S4: [OK]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8316" y="2738437"/>
            <a:ext cx="504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ESP32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7441" y="2719387"/>
            <a:ext cx="226278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Central Controller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2652712"/>
            <a:ext cx="990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Slot 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4520" y="2709862"/>
            <a:ext cx="628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OCCUPIED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7775" y="3348037"/>
            <a:ext cx="1371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Vehicle 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5620" y="2652712"/>
            <a:ext cx="10096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Slot S4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4316" y="2709862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AVAILABLE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8995" y="3348037"/>
            <a:ext cx="971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Empty Slot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150" y="4138612"/>
            <a:ext cx="952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Slot 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4520" y="4195762"/>
            <a:ext cx="628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OCCUPIED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7775" y="4833937"/>
            <a:ext cx="1371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Vehicle Detected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5620" y="4138612"/>
            <a:ext cx="990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Slot S2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4316" y="4195762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JetBrains Mono"/>
              </a:rPr>
              <a:t>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8995" y="4833937"/>
            <a:ext cx="971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Empty Slot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8976"/>
            <a:ext cx="3530649" cy="1468635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288976"/>
            <a:ext cx="3530649" cy="1468635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288976"/>
            <a:ext cx="3530649" cy="1468635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48112"/>
            <a:ext cx="3530649" cy="1468635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749" y="3948112"/>
            <a:ext cx="3530649" cy="1468635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3948112"/>
            <a:ext cx="3530649" cy="1468635"/>
          </a:xfrm>
          <a:prstGeom prst="roundRect">
            <a:avLst>
              <a:gd name="adj" fmla="val 77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27101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2527101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2527101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186237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4186237"/>
            <a:ext cx="1714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0024" y="4186237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67550" y="876300"/>
            <a:ext cx="5124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Seamless adaptability across public and private urban sectors.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6917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DEPLOYMENT DOMAINS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66750"/>
            <a:ext cx="726340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Scalable Application Environments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870001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Colleges &amp; Campuses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146226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Faculty and student zones with scheduled access tracking and permit monitoring.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874" y="2870001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Shopping Malls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74" y="3146226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Multi-floor parking guidance displays eliminating weekend traffic congestion.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024" y="2870001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Hospitals &amp; Clinics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024" y="3146226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Priority lanes for emergency response and ambulatory vehicle rapid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529137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Airports &amp; Transit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805362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Long-term and short-term terminal management with online reservation links.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4529137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Commercial Tech Parks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8874" y="4805362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Automated employee slot assignment with unified enterprise access badges.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024" y="4529137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Smart Cities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024" y="4805362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Integration into municipal Intelligent Transportation Systems (ITS).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1940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33875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584835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04925"/>
            <a:ext cx="38100" cy="552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819400"/>
            <a:ext cx="38100" cy="552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333875"/>
            <a:ext cx="38100" cy="5524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848350"/>
            <a:ext cx="38100" cy="5524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48590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000375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514850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6029325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SYSTEM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Future Scope &amp; Advanced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490662"/>
            <a:ext cx="8077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Automatic Number Plate Recognition via optical character recognition at the entry gate.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005137"/>
            <a:ext cx="8077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Servo-controlled boom gate opening based on valid RFID tag authentication and vacancy.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19612"/>
            <a:ext cx="8077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Native Flutter/React Native application allowing drivers to reserve slots and pay via UPI.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034087"/>
            <a:ext cx="8077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Machine learning time-series models predicting peak occupancy hours and dynamic rates.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1476375"/>
            <a:ext cx="27003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ANPR Camera Recognition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75" y="2990850"/>
            <a:ext cx="318789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RFID &amp; Automatic Boom Barrier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1575" y="4505325"/>
            <a:ext cx="316289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Mobile App &amp; Slot Pre-Booking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7775" y="6019800"/>
            <a:ext cx="317539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AI-Driven Demand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810250"/>
            <a:ext cx="106680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8102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PROJECT CONCLUSION &amp;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09600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2C55E"/>
                </a:solidFill>
                <a:latin typeface="JetBrains Mono"/>
              </a:rPr>
              <a:t>PROTOTYPE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27001"/>
            <a:ext cx="91011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8FAFC"/>
                </a:solidFill>
                <a:latin typeface="Plus Jakarta Sans"/>
              </a:rPr>
              <a:t>Delivering an Automated, Scalable &amp; Intelligent Parking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06923"/>
            <a:ext cx="7905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The proposed system proves that low-cost edge sensors combined with the ESP32 microcontroller eliminate manual parking bottlenecks, streamline traffic flow, and provide actionable real-time urban telemetry.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048375"/>
            <a:ext cx="3155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Thank You · 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6067425"/>
            <a:ext cx="426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Department of Computer Science and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207073"/>
            <a:ext cx="246459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300" i="0" u="none">
                <a:solidFill>
                  <a:srgbClr val="38BDF8"/>
                </a:solidFill>
                <a:latin typeface="Plus Jakarta Sans"/>
              </a:rPr>
              <a:t>&lt; 500ms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83323"/>
            <a:ext cx="24645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Detection-to-Cloud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4675" y="4207073"/>
            <a:ext cx="2119312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300" i="0" u="none">
                <a:solidFill>
                  <a:srgbClr val="22C55E"/>
                </a:solidFill>
                <a:latin typeface="Plus Jakarta San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4675" y="4683323"/>
            <a:ext cx="2119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Automated Slot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1125" y="4207073"/>
            <a:ext cx="246459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300" i="0" u="none">
                <a:solidFill>
                  <a:srgbClr val="F59E0B"/>
                </a:solidFill>
                <a:latin typeface="Plus Jakarta Sans"/>
              </a:rPr>
              <a:t>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1125" y="4683323"/>
            <a:ext cx="24645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Manual Supervision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https://ifactoryapp.com/industries/infrastructure-management/manage-post-2k26/uploads/computer-vision-smart-parking-infrastructure-heavy.jpg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28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ifactoryapp.com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4393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https://www.adafruit.com/images/480x360/3269-04.jpg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42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www.adafruit.com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